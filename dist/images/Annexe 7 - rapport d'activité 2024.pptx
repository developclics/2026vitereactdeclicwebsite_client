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600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dd5eb1f36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5dd5eb1f3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851175" y="4196025"/>
            <a:ext cx="7153200" cy="24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600"/>
              <a:buFont typeface="Calibri"/>
              <a:buNone/>
            </a:pPr>
            <a:r>
              <a:rPr lang="fr-FR" sz="4600" b="1" dirty="0">
                <a:solidFill>
                  <a:srgbClr val="002060"/>
                </a:solidFill>
              </a:rPr>
              <a:t>RAPPORT D’ACTIVITES ANNEE 2024</a:t>
            </a:r>
            <a:endParaRPr dirty="0"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236508" y="5178783"/>
            <a:ext cx="4846200" cy="13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sp>
        <p:nvSpPr>
          <p:cNvPr id="91" name="Google Shape;91;p13"/>
          <p:cNvSpPr/>
          <p:nvPr/>
        </p:nvSpPr>
        <p:spPr>
          <a:xfrm rot="5400000">
            <a:off x="1182975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853897" y="4177748"/>
            <a:ext cx="4824407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5525"/>
            <a:ext cx="12192000" cy="4049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2795186" y="365125"/>
            <a:ext cx="85586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alibri"/>
              <a:buNone/>
            </a:pPr>
            <a:r>
              <a:rPr lang="fr-FR" sz="4000" b="1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LE COLLECTIF DE TRAVAIL</a:t>
            </a:r>
            <a:br>
              <a:rPr lang="fr-FR" sz="3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3000" b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417500" y="1387225"/>
            <a:ext cx="7382100" cy="52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b="0"/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b="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000" b="1">
              <a:solidFill>
                <a:srgbClr val="002060"/>
              </a:solidFill>
            </a:endParaRPr>
          </a:p>
          <a:p>
            <a:pPr marL="228600" lvl="0" indent="-22296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Char char="•"/>
            </a:pPr>
            <a:r>
              <a:rPr lang="fr-FR" sz="5880" b="1">
                <a:solidFill>
                  <a:srgbClr val="002060"/>
                </a:solidFill>
              </a:rPr>
              <a:t>2 ans d’existence, 37 salariés dont 34 anciens chômeurs de longue durée teillois</a:t>
            </a:r>
            <a:endParaRPr sz="5880" b="1">
              <a:solidFill>
                <a:srgbClr val="00206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5880" b="1">
              <a:solidFill>
                <a:srgbClr val="002060"/>
              </a:solidFill>
            </a:endParaRPr>
          </a:p>
          <a:p>
            <a:pPr marL="228600" lvl="0" indent="-22296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Char char="•"/>
            </a:pPr>
            <a:r>
              <a:rPr lang="fr-FR" sz="5880" b="1" i="0" u="none" strike="noStrike">
                <a:solidFill>
                  <a:srgbClr val="002060"/>
                </a:solidFill>
              </a:rPr>
              <a:t>Augmentation des effectifs</a:t>
            </a:r>
            <a:r>
              <a:rPr lang="fr-FR" sz="5880" b="0" i="0" u="none" strike="noStrike">
                <a:solidFill>
                  <a:srgbClr val="002060"/>
                </a:solidFill>
              </a:rPr>
              <a:t> </a:t>
            </a:r>
            <a:r>
              <a:rPr lang="fr-FR" sz="5880">
                <a:solidFill>
                  <a:srgbClr val="000000"/>
                </a:solidFill>
              </a:rPr>
              <a:t>:</a:t>
            </a:r>
            <a:endParaRPr sz="5880"/>
          </a:p>
          <a:p>
            <a:pPr marL="742950" lvl="1" indent="-28011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fr-FR" sz="5880"/>
              <a:t>2023 : + 16 salariés</a:t>
            </a:r>
            <a:endParaRPr sz="5880"/>
          </a:p>
          <a:p>
            <a:pPr marL="742950" lvl="1" indent="-28011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fr-FR" sz="5880"/>
              <a:t>2024 : + 18 salariés  / - 4 départs </a:t>
            </a:r>
            <a:endParaRPr sz="5880"/>
          </a:p>
          <a:p>
            <a:pPr marL="742950" lvl="1" indent="-28011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fr-FR" sz="5880"/>
              <a:t>2025 : + 7 salariés</a:t>
            </a:r>
            <a:endParaRPr sz="588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34009"/>
              <a:buNone/>
            </a:pPr>
            <a:endParaRPr sz="5880" b="0" i="0" u="none" strike="noStrike">
              <a:solidFill>
                <a:srgbClr val="000000"/>
              </a:solidFill>
            </a:endParaRPr>
          </a:p>
          <a:p>
            <a:pPr marL="228600" lvl="0" indent="-22296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Char char="•"/>
            </a:pPr>
            <a:r>
              <a:rPr lang="fr-FR" sz="5880" b="1" i="0" u="none" strike="noStrike">
                <a:solidFill>
                  <a:srgbClr val="002060"/>
                </a:solidFill>
              </a:rPr>
              <a:t>Structuration de l’encadrement </a:t>
            </a:r>
            <a:r>
              <a:rPr lang="fr-FR" sz="5880" b="1" i="0" u="none" strike="noStrike">
                <a:solidFill>
                  <a:srgbClr val="000000"/>
                </a:solidFill>
              </a:rPr>
              <a:t>: </a:t>
            </a:r>
            <a:endParaRPr sz="5880"/>
          </a:p>
          <a:p>
            <a:pPr marL="742950" lvl="1" indent="-28011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fr-FR" sz="5880" b="0" i="0" u="none" strike="noStrike">
                <a:solidFill>
                  <a:srgbClr val="000000"/>
                </a:solidFill>
              </a:rPr>
              <a:t>2023 : </a:t>
            </a:r>
            <a:endParaRPr sz="5880"/>
          </a:p>
          <a:p>
            <a:pPr marL="1143000" lvl="2" indent="-222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fr-FR" sz="5880" b="0" i="0" u="none" strike="noStrike">
                <a:solidFill>
                  <a:srgbClr val="000000"/>
                </a:solidFill>
              </a:rPr>
              <a:t>1 directrice (Floriane Peverelli)</a:t>
            </a:r>
            <a:endParaRPr sz="5880"/>
          </a:p>
          <a:p>
            <a:pPr marL="1143000" lvl="2" indent="-222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fr-FR" sz="5880" b="0" i="0" u="none" strike="noStrike">
                <a:solidFill>
                  <a:srgbClr val="000000"/>
                </a:solidFill>
              </a:rPr>
              <a:t>1 responsable du développement (Olivier Rey)</a:t>
            </a:r>
            <a:endParaRPr sz="5880"/>
          </a:p>
          <a:p>
            <a:pPr marL="742950" lvl="1" indent="-28011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fr-FR" sz="5880" b="0" i="0" u="none" strike="noStrike">
                <a:solidFill>
                  <a:srgbClr val="000000"/>
                </a:solidFill>
              </a:rPr>
              <a:t>2024 : </a:t>
            </a:r>
            <a:endParaRPr sz="5880"/>
          </a:p>
          <a:p>
            <a:pPr marL="1143000" lvl="2" indent="-222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fr-FR" sz="5880" b="0" i="0" u="none" strike="noStrike">
                <a:solidFill>
                  <a:srgbClr val="000000"/>
                </a:solidFill>
              </a:rPr>
              <a:t>1 facilitateur (évolution interne - Julien Gonnet)</a:t>
            </a:r>
            <a:endParaRPr sz="5880"/>
          </a:p>
          <a:p>
            <a:pPr marL="1143000" lvl="2" indent="-222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fr-FR" sz="5880" b="0" i="0" u="none" strike="noStrike">
                <a:solidFill>
                  <a:srgbClr val="000000"/>
                </a:solidFill>
              </a:rPr>
              <a:t>1 responsable RH, administrative, financière (Nina Depoux)</a:t>
            </a:r>
            <a:endParaRPr sz="5880"/>
          </a:p>
          <a:p>
            <a:pPr marL="1143000" lvl="2" indent="-222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fr-FR" sz="5880" b="0" i="0" u="none" strike="noStrike">
                <a:solidFill>
                  <a:srgbClr val="000000"/>
                </a:solidFill>
              </a:rPr>
              <a:t>2 coordinatrices (Caroline Falque et Philippe S</a:t>
            </a:r>
            <a:r>
              <a:rPr lang="fr-FR" sz="5880">
                <a:solidFill>
                  <a:srgbClr val="000000"/>
                </a:solidFill>
              </a:rPr>
              <a:t>agnes</a:t>
            </a:r>
            <a:r>
              <a:rPr lang="fr-FR" sz="5880" b="0" i="0" u="none" strike="noStrike">
                <a:solidFill>
                  <a:srgbClr val="000000"/>
                </a:solidFill>
              </a:rPr>
              <a:t>)</a:t>
            </a:r>
            <a:endParaRPr sz="2800"/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491" y="273248"/>
            <a:ext cx="1956986" cy="139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85175" y="3799726"/>
            <a:ext cx="4014952" cy="3017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6393" y="1182793"/>
            <a:ext cx="4014950" cy="243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2550975" y="123200"/>
            <a:ext cx="5859900" cy="8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None/>
            </a:pPr>
            <a:r>
              <a:rPr lang="fr-FR" sz="3500" b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					</a:t>
            </a:r>
            <a:r>
              <a:rPr lang="fr-FR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ORGANIGRAMME</a:t>
            </a:r>
            <a:r>
              <a:rPr lang="fr-FR" b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1">
              <a:solidFill>
                <a:srgbClr val="002060"/>
              </a:solidFill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491" y="273248"/>
            <a:ext cx="1956986" cy="139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3100" y="1214625"/>
            <a:ext cx="6743001" cy="55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92825" y="1931125"/>
            <a:ext cx="3942600" cy="47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9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Une équipe de </a:t>
            </a:r>
            <a:r>
              <a:rPr lang="fr-FR" sz="1900" b="1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DIRECTION</a:t>
            </a:r>
            <a:r>
              <a:rPr lang="fr-FR" sz="19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de 3 personnes</a:t>
            </a:r>
            <a:endParaRPr sz="19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9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9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Un pôle </a:t>
            </a:r>
            <a:r>
              <a:rPr lang="fr-FR" sz="1900" b="1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COORDO</a:t>
            </a:r>
            <a:r>
              <a:rPr lang="fr-FR" sz="19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 de 3 personnes</a:t>
            </a:r>
            <a:endParaRPr sz="19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9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9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fr-FR" sz="1900" b="1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POLE d’ACTIVITES </a:t>
            </a:r>
            <a:r>
              <a:rPr lang="fr-FR" sz="19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9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900">
                <a:solidFill>
                  <a:srgbClr val="FFFFFF"/>
                </a:solidFill>
              </a:rPr>
              <a:t>– </a:t>
            </a:r>
            <a:r>
              <a:rPr lang="fr-FR" sz="19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Hospitalité : 5,24 ETP</a:t>
            </a:r>
            <a:endParaRPr sz="19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900">
                <a:solidFill>
                  <a:srgbClr val="FFFFFF"/>
                </a:solidFill>
              </a:rPr>
              <a:t>– </a:t>
            </a:r>
            <a:r>
              <a:rPr lang="fr-FR" sz="19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Animation 5,76 ETP</a:t>
            </a:r>
            <a:endParaRPr sz="19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900">
                <a:solidFill>
                  <a:srgbClr val="FFFFFF"/>
                </a:solidFill>
              </a:rPr>
              <a:t>– </a:t>
            </a:r>
            <a:r>
              <a:rPr lang="fr-FR" sz="19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Conciergerie 80,22 ETP</a:t>
            </a:r>
            <a:endParaRPr sz="19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900">
                <a:solidFill>
                  <a:srgbClr val="FFFFFF"/>
                </a:solidFill>
              </a:rPr>
              <a:t>– </a:t>
            </a:r>
            <a:r>
              <a:rPr lang="fr-FR" sz="19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Construction bois 2,57 ETP</a:t>
            </a:r>
            <a:endParaRPr sz="19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19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+ Support 3,72 ETP</a:t>
            </a:r>
            <a:endParaRPr sz="19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3716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alibri"/>
              <a:buNone/>
            </a:pPr>
            <a:r>
              <a:rPr lang="fr-FR" sz="4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L’EMPLOI INCLUSIF</a:t>
            </a:r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body" idx="1"/>
          </p:nvPr>
        </p:nvSpPr>
        <p:spPr>
          <a:xfrm>
            <a:off x="122225" y="1690700"/>
            <a:ext cx="7448100" cy="49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3902"/>
              <a:buNone/>
            </a:pPr>
            <a:endParaRPr sz="2342" b="1" i="0" u="none" strike="noStrike">
              <a:solidFill>
                <a:srgbClr val="000000"/>
              </a:solidFill>
            </a:endParaRPr>
          </a:p>
          <a:p>
            <a:pPr marL="742950" lvl="1" indent="-29754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fr-FR" sz="2626">
                <a:solidFill>
                  <a:srgbClr val="000000"/>
                </a:solidFill>
              </a:rPr>
              <a:t>Embauche inconditionnelle</a:t>
            </a:r>
            <a:endParaRPr sz="2626" b="0" i="0" u="none" strike="noStrike">
              <a:solidFill>
                <a:srgbClr val="000000"/>
              </a:solidFill>
            </a:endParaRPr>
          </a:p>
          <a:p>
            <a:pPr marL="742950" lvl="1" indent="-1682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76141"/>
              <a:buFont typeface="Arial"/>
              <a:buNone/>
            </a:pPr>
            <a:endParaRPr sz="2626" b="0" i="0" u="none" strike="noStrike">
              <a:solidFill>
                <a:srgbClr val="000000"/>
              </a:solidFill>
            </a:endParaRPr>
          </a:p>
          <a:p>
            <a:pPr marL="742950" lvl="1" indent="-29754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fr-FR" sz="2626" b="0" i="0" u="none" strike="noStrike">
                <a:solidFill>
                  <a:srgbClr val="000000"/>
                </a:solidFill>
              </a:rPr>
              <a:t>Temps de travail choisi</a:t>
            </a:r>
            <a:endParaRPr sz="3026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76141"/>
              <a:buNone/>
            </a:pPr>
            <a:endParaRPr sz="2626" b="0" i="0" u="none" strike="noStrike">
              <a:solidFill>
                <a:srgbClr val="000000"/>
              </a:solidFill>
            </a:endParaRPr>
          </a:p>
          <a:p>
            <a:pPr marL="742950" lvl="1" indent="-29754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fr-FR" sz="2626" b="0" i="0" u="none" strike="noStrike">
                <a:solidFill>
                  <a:srgbClr val="000000"/>
                </a:solidFill>
              </a:rPr>
              <a:t>Auto-évaluation de notre gouvernance avec un comité scientifique</a:t>
            </a:r>
            <a:endParaRPr sz="3026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76141"/>
              <a:buNone/>
            </a:pPr>
            <a:endParaRPr sz="2626" b="0" i="0" u="none" strike="noStrike">
              <a:solidFill>
                <a:srgbClr val="000000"/>
              </a:solidFill>
            </a:endParaRPr>
          </a:p>
          <a:p>
            <a:pPr marL="742950" lvl="1" indent="-29754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fr-FR" sz="2626" b="0" i="0" u="none" strike="noStrike">
                <a:solidFill>
                  <a:srgbClr val="000000"/>
                </a:solidFill>
              </a:rPr>
              <a:t>Adaptation de l’entreprise aux contraintes horaires des salariés</a:t>
            </a:r>
            <a:endParaRPr sz="3026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76141"/>
              <a:buNone/>
            </a:pPr>
            <a:endParaRPr sz="2626" b="0" i="0" u="none" strike="noStrike">
              <a:solidFill>
                <a:srgbClr val="000000"/>
              </a:solidFill>
            </a:endParaRPr>
          </a:p>
          <a:p>
            <a:pPr marL="742950" lvl="1" indent="-29754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fr-FR" sz="2626" b="0" i="0" u="none" strike="noStrike">
                <a:solidFill>
                  <a:srgbClr val="000000"/>
                </a:solidFill>
              </a:rPr>
              <a:t>15 jours de formation pré-embauche</a:t>
            </a:r>
            <a:endParaRPr sz="3026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76141"/>
              <a:buNone/>
            </a:pPr>
            <a:endParaRPr sz="2626" b="0" i="0" u="none" strike="noStrike">
              <a:solidFill>
                <a:srgbClr val="000000"/>
              </a:solidFill>
            </a:endParaRPr>
          </a:p>
          <a:p>
            <a:pPr marL="742950" lvl="1" indent="-29754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fr-FR" sz="2626" b="0" i="0" u="none" strike="noStrike">
                <a:solidFill>
                  <a:srgbClr val="000000"/>
                </a:solidFill>
              </a:rPr>
              <a:t>Travail en binôme </a:t>
            </a:r>
            <a:endParaRPr sz="3026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76141"/>
              <a:buNone/>
            </a:pPr>
            <a:endParaRPr sz="2626" b="0" i="0" u="none" strike="noStrike">
              <a:solidFill>
                <a:srgbClr val="000000"/>
              </a:solidFill>
            </a:endParaRPr>
          </a:p>
          <a:p>
            <a:pPr marL="742950" lvl="1" indent="-29754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fr-FR" sz="2626" b="0" i="0" u="none" strike="noStrike">
                <a:solidFill>
                  <a:srgbClr val="000000"/>
                </a:solidFill>
              </a:rPr>
              <a:t>Nombreuses sorties de lieux inspirants</a:t>
            </a:r>
            <a:endParaRPr sz="3026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76141"/>
              <a:buNone/>
            </a:pPr>
            <a:endParaRPr sz="2626">
              <a:solidFill>
                <a:srgbClr val="000000"/>
              </a:solidFill>
            </a:endParaRPr>
          </a:p>
          <a:p>
            <a:pPr marL="742950" lvl="1" indent="-29754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fr-FR" sz="2626" b="0" i="0" u="none" strike="noStrike">
                <a:solidFill>
                  <a:srgbClr val="000000"/>
                </a:solidFill>
              </a:rPr>
              <a:t>Etc</a:t>
            </a:r>
            <a:r>
              <a:rPr lang="fr-FR" sz="2626">
                <a:solidFill>
                  <a:srgbClr val="000000"/>
                </a:solidFill>
              </a:rPr>
              <a:t>…</a:t>
            </a:r>
            <a:endParaRPr sz="2942"/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293" y="332902"/>
            <a:ext cx="1956986" cy="139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80993" y="227419"/>
            <a:ext cx="2238798" cy="2987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7812" y="4153621"/>
            <a:ext cx="4112158" cy="236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2243150" y="195525"/>
            <a:ext cx="7591500" cy="14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fr-FR" sz="4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LES </a:t>
            </a:r>
            <a:r>
              <a:rPr lang="fr-FR" sz="4000" b="1">
                <a:solidFill>
                  <a:srgbClr val="002060"/>
                </a:solidFill>
              </a:rPr>
              <a:t>ACTIVITÉS</a:t>
            </a:r>
            <a:r>
              <a:rPr lang="fr-FR" sz="4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UTILES AU TERRITOIRE</a:t>
            </a:r>
            <a:br>
              <a:rPr lang="fr-FR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152775" y="1870850"/>
            <a:ext cx="8273400" cy="49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fr-FR" sz="16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fr-FR" sz="1600" b="1"/>
              <a:t>Bar à jeux </a:t>
            </a:r>
            <a:r>
              <a:rPr lang="fr-FR" sz="1600"/>
              <a:t>avec de la petite restauration et programmation événementielle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fr-FR" sz="16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fr-FR" sz="1600"/>
              <a:t> </a:t>
            </a:r>
            <a:r>
              <a:rPr lang="fr-FR" sz="1600" b="1"/>
              <a:t>Guinguette mobile </a:t>
            </a:r>
            <a:r>
              <a:rPr lang="fr-FR" sz="1600"/>
              <a:t>(camion food-truck)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fr-FR" sz="16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fr-FR" sz="1600" b="1"/>
              <a:t>Animations</a:t>
            </a:r>
            <a:r>
              <a:rPr lang="fr-FR" sz="1600"/>
              <a:t> (anniversaires enfants, team-building, centres de loisirs)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fr-FR" sz="16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fr-FR" sz="1600" b="1"/>
              <a:t>Ateliers périscolaires </a:t>
            </a:r>
            <a:r>
              <a:rPr lang="fr-FR" sz="1600"/>
              <a:t>pour les écoles de la ville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fr-FR" sz="16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fr-FR" sz="1600" b="1"/>
              <a:t>Service de conciergerie </a:t>
            </a:r>
            <a:r>
              <a:rPr lang="fr-FR" sz="1600"/>
              <a:t>pour les gîtes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fr-FR" sz="16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fr-FR" sz="1600"/>
              <a:t>Atelier de </a:t>
            </a:r>
            <a:r>
              <a:rPr lang="fr-FR" sz="1600" b="1"/>
              <a:t>construction de jeux</a:t>
            </a:r>
            <a:r>
              <a:rPr lang="fr-FR" sz="1600"/>
              <a:t> en bois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fr-FR" sz="16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fr-FR" sz="1600"/>
              <a:t>Prestations de </a:t>
            </a:r>
            <a:r>
              <a:rPr lang="fr-FR" sz="1600" b="1"/>
              <a:t>soutien à la vie associative </a:t>
            </a:r>
            <a:r>
              <a:rPr lang="fr-FR" sz="1600"/>
              <a:t>(gardiennage d’exposition, tenue de billetterie, accueil du public, montage / démontage…)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fr-FR" sz="16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fr-FR" sz="1600" b="1"/>
              <a:t>Diffusion – tractage </a:t>
            </a:r>
            <a:r>
              <a:rPr lang="fr-FR" sz="1600"/>
              <a:t>de documents de communication pour les structures culturelles et touristiques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fr-FR" sz="16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fr-FR" sz="1600"/>
              <a:t>Service de </a:t>
            </a:r>
            <a:r>
              <a:rPr lang="fr-FR" sz="1600" b="1"/>
              <a:t>location de vaisselle</a:t>
            </a:r>
            <a:endParaRPr/>
          </a:p>
        </p:txBody>
      </p:sp>
      <p:pic>
        <p:nvPicPr>
          <p:cNvPr id="126" name="Google Shape;12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778" y="365125"/>
            <a:ext cx="1956986" cy="139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9450" y="1581621"/>
            <a:ext cx="3408675" cy="241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45096" y="4208225"/>
            <a:ext cx="3522225" cy="24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34521" y="77196"/>
            <a:ext cx="2357475" cy="23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2677050" y="473600"/>
            <a:ext cx="9187800" cy="9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90909"/>
              <a:buFont typeface="Calibri"/>
              <a:buNone/>
            </a:pPr>
            <a:r>
              <a:rPr lang="fr-FR" b="1">
                <a:solidFill>
                  <a:srgbClr val="002060"/>
                </a:solidFill>
              </a:rPr>
              <a:t>Bilan 2024 et prévisionnel budgétaire 2025</a:t>
            </a:r>
            <a:endParaRPr b="1">
              <a:solidFill>
                <a:srgbClr val="00206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90909"/>
              <a:buFont typeface="Calibri"/>
              <a:buNone/>
            </a:pPr>
            <a:endParaRPr/>
          </a:p>
        </p:txBody>
      </p:sp>
      <p:sp>
        <p:nvSpPr>
          <p:cNvPr id="135" name="Google Shape;135;p18"/>
          <p:cNvSpPr txBox="1">
            <a:spLocks noGrp="1"/>
          </p:cNvSpPr>
          <p:nvPr>
            <p:ph type="body" idx="1"/>
          </p:nvPr>
        </p:nvSpPr>
        <p:spPr>
          <a:xfrm>
            <a:off x="457195" y="1716423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778" y="365125"/>
            <a:ext cx="1956986" cy="139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2626" y="1954475"/>
            <a:ext cx="9834500" cy="46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>
            <a:spLocks noGrp="1"/>
          </p:cNvSpPr>
          <p:nvPr>
            <p:ph type="title"/>
          </p:nvPr>
        </p:nvSpPr>
        <p:spPr>
          <a:xfrm>
            <a:off x="2701150" y="473600"/>
            <a:ext cx="9163500" cy="9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90909"/>
              <a:buFont typeface="Calibri"/>
              <a:buNone/>
            </a:pPr>
            <a:r>
              <a:rPr lang="fr-FR" b="1">
                <a:solidFill>
                  <a:srgbClr val="002060"/>
                </a:solidFill>
              </a:rPr>
              <a:t>ANALYSE ET STRATÉGIE</a:t>
            </a:r>
            <a:endParaRPr b="1">
              <a:solidFill>
                <a:srgbClr val="00206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90909"/>
              <a:buFont typeface="Calibri"/>
              <a:buNone/>
            </a:pPr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body" idx="1"/>
          </p:nvPr>
        </p:nvSpPr>
        <p:spPr>
          <a:xfrm>
            <a:off x="0" y="1581575"/>
            <a:ext cx="8004300" cy="52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-FR" sz="1800">
                <a:solidFill>
                  <a:srgbClr val="2C2C2C"/>
                </a:solidFill>
              </a:rPr>
              <a:t>3ème année d’activité = enjeux financiers importants avec la stabilisation des embauches</a:t>
            </a:r>
            <a:endParaRPr sz="1800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-FR" sz="1800" b="1">
                <a:solidFill>
                  <a:srgbClr val="2C2C2C"/>
                </a:solidFill>
              </a:rPr>
              <a:t>- 45 000 € de dotation d’amorçage</a:t>
            </a:r>
            <a:endParaRPr sz="1800" b="1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2C2C2C"/>
                </a:solidFill>
              </a:rPr>
              <a:t>- 9 000 € d’aide Agefiph</a:t>
            </a:r>
            <a:endParaRPr sz="1800" b="1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 b="1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2C2C2C"/>
                </a:solidFill>
              </a:rPr>
              <a:t> Dans ce contexte restreint, </a:t>
            </a:r>
            <a:r>
              <a:rPr lang="fr-FR" sz="1800" b="1">
                <a:solidFill>
                  <a:srgbClr val="2C2C2C"/>
                </a:solidFill>
              </a:rPr>
              <a:t>compte de résultat prévisionnel de -19 000 €</a:t>
            </a:r>
            <a:endParaRPr sz="1800" b="1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 b="1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50">
                <a:solidFill>
                  <a:srgbClr val="002060"/>
                </a:solidFill>
              </a:rPr>
              <a:t> </a:t>
            </a:r>
            <a:r>
              <a:rPr lang="fr-FR" sz="2450" b="1" u="sng">
                <a:solidFill>
                  <a:srgbClr val="002060"/>
                </a:solidFill>
              </a:rPr>
              <a:t>STRATÉGIE</a:t>
            </a:r>
            <a:r>
              <a:rPr lang="fr-FR" sz="2450" b="1">
                <a:solidFill>
                  <a:srgbClr val="002060"/>
                </a:solidFill>
              </a:rPr>
              <a:t> : </a:t>
            </a:r>
            <a:endParaRPr sz="2450" b="1">
              <a:solidFill>
                <a:srgbClr val="00206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2C2C2C"/>
                </a:solidFill>
              </a:rPr>
              <a:t>Développer les activités en cours / </a:t>
            </a:r>
            <a:r>
              <a:rPr lang="fr-FR" sz="1800" b="1">
                <a:solidFill>
                  <a:srgbClr val="2C2C2C"/>
                </a:solidFill>
              </a:rPr>
              <a:t>ne pas s’éparpiller dans le développement de nouvelles activités</a:t>
            </a:r>
            <a:endParaRPr sz="1800" b="1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 b="1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2C2C2C"/>
                </a:solidFill>
              </a:rPr>
              <a:t>Proposer une </a:t>
            </a:r>
            <a:r>
              <a:rPr lang="fr-FR" sz="1800" b="1">
                <a:solidFill>
                  <a:srgbClr val="2C2C2C"/>
                </a:solidFill>
              </a:rPr>
              <a:t>offre de service qui reste lisible </a:t>
            </a:r>
            <a:r>
              <a:rPr lang="fr-FR" sz="1800">
                <a:solidFill>
                  <a:srgbClr val="2C2C2C"/>
                </a:solidFill>
              </a:rPr>
              <a:t>/ mieux </a:t>
            </a:r>
            <a:r>
              <a:rPr lang="fr-FR" sz="1800" b="1">
                <a:solidFill>
                  <a:srgbClr val="2C2C2C"/>
                </a:solidFill>
              </a:rPr>
              <a:t>commercialiser</a:t>
            </a:r>
            <a:endParaRPr sz="1800" b="1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 b="1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2C2C2C"/>
                </a:solidFill>
              </a:rPr>
              <a:t>Structurer</a:t>
            </a:r>
            <a:r>
              <a:rPr lang="fr-FR" sz="1800">
                <a:solidFill>
                  <a:srgbClr val="2C2C2C"/>
                </a:solidFill>
              </a:rPr>
              <a:t> les activités existantes / </a:t>
            </a:r>
            <a:r>
              <a:rPr lang="fr-FR" sz="1800" b="1">
                <a:solidFill>
                  <a:srgbClr val="2C2C2C"/>
                </a:solidFill>
              </a:rPr>
              <a:t>professionnaliser</a:t>
            </a:r>
            <a:r>
              <a:rPr lang="fr-FR" sz="1800">
                <a:solidFill>
                  <a:srgbClr val="2C2C2C"/>
                </a:solidFill>
              </a:rPr>
              <a:t> l'offre de services existante</a:t>
            </a:r>
            <a:endParaRPr sz="1800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2C2C2C"/>
                </a:solidFill>
              </a:rPr>
              <a:t>Travailler la </a:t>
            </a:r>
            <a:r>
              <a:rPr lang="fr-FR" sz="1800" b="1">
                <a:solidFill>
                  <a:srgbClr val="2C2C2C"/>
                </a:solidFill>
              </a:rPr>
              <a:t>montée en compétences des salariés </a:t>
            </a:r>
            <a:r>
              <a:rPr lang="fr-FR" sz="1800">
                <a:solidFill>
                  <a:srgbClr val="2C2C2C"/>
                </a:solidFill>
              </a:rPr>
              <a:t>(limitant la polyvalence et en accentuant la spécialisation)</a:t>
            </a:r>
            <a:endParaRPr sz="1800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2C2C2C"/>
                </a:solidFill>
              </a:rPr>
              <a:t>Travailler la </a:t>
            </a:r>
            <a:r>
              <a:rPr lang="fr-FR" sz="1800" b="1">
                <a:solidFill>
                  <a:srgbClr val="2C2C2C"/>
                </a:solidFill>
              </a:rPr>
              <a:t>politique achat </a:t>
            </a:r>
            <a:r>
              <a:rPr lang="fr-FR" sz="1800">
                <a:solidFill>
                  <a:srgbClr val="2C2C2C"/>
                </a:solidFill>
              </a:rPr>
              <a:t>/ dégager plus de marge brute</a:t>
            </a:r>
            <a:endParaRPr sz="1800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2C2C2C"/>
                </a:solidFill>
              </a:rPr>
              <a:t>Rester dans les objectifs prévisionnels d'embauche (</a:t>
            </a:r>
            <a:r>
              <a:rPr lang="fr-FR" sz="1800" b="1">
                <a:solidFill>
                  <a:srgbClr val="2C2C2C"/>
                </a:solidFill>
              </a:rPr>
              <a:t>pas de course à l'embauche </a:t>
            </a:r>
            <a:r>
              <a:rPr lang="fr-FR" sz="1800">
                <a:solidFill>
                  <a:srgbClr val="2C2C2C"/>
                </a:solidFill>
              </a:rPr>
              <a:t>pour toucher la DA) </a:t>
            </a:r>
            <a:endParaRPr sz="1800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C2C2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2C2C2C"/>
                </a:solidFill>
              </a:rPr>
              <a:t> </a:t>
            </a:r>
            <a:r>
              <a:rPr lang="fr-FR" sz="1800" b="1">
                <a:solidFill>
                  <a:srgbClr val="2C2C2C"/>
                </a:solidFill>
              </a:rPr>
              <a:t>Recherche de partenaires financiers </a:t>
            </a:r>
            <a:r>
              <a:rPr lang="fr-FR" sz="1800">
                <a:solidFill>
                  <a:srgbClr val="2C2C2C"/>
                </a:solidFill>
              </a:rPr>
              <a:t>à développer (AAP, mécénat) : 10K€- </a:t>
            </a:r>
            <a:endParaRPr sz="1800">
              <a:solidFill>
                <a:srgbClr val="2C2C2C"/>
              </a:solidFill>
            </a:endParaRPr>
          </a:p>
        </p:txBody>
      </p:sp>
      <p:pic>
        <p:nvPicPr>
          <p:cNvPr id="144" name="Google Shape;14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778" y="365125"/>
            <a:ext cx="1956986" cy="139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3800" y="696775"/>
            <a:ext cx="4010250" cy="300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03800" y="4048099"/>
            <a:ext cx="4010262" cy="2259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>
            <a:spLocks noGrp="1"/>
          </p:cNvSpPr>
          <p:nvPr>
            <p:ph type="title"/>
          </p:nvPr>
        </p:nvSpPr>
        <p:spPr>
          <a:xfrm>
            <a:off x="2660904" y="996696"/>
            <a:ext cx="4096512" cy="10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fr-FR" sz="4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LES COOPERATIONS </a:t>
            </a:r>
            <a:br>
              <a:rPr lang="fr-FR" sz="4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4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au sein de la SCIC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body" idx="1"/>
          </p:nvPr>
        </p:nvSpPr>
        <p:spPr>
          <a:xfrm>
            <a:off x="312423" y="1713550"/>
            <a:ext cx="6156900" cy="44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1228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000000"/>
              </a:solidFill>
            </a:endParaRPr>
          </a:p>
          <a:p>
            <a:pPr marL="457200" lvl="0" indent="-1228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000000"/>
              </a:solidFill>
            </a:endParaRPr>
          </a:p>
          <a:p>
            <a:pPr marL="228600" lvl="0" indent="-23768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900"/>
              <a:buFont typeface="Arial"/>
              <a:buChar char="•"/>
            </a:pPr>
            <a:r>
              <a:rPr lang="fr-FR" sz="1900" b="1" i="0" u="none" strike="noStrike">
                <a:solidFill>
                  <a:srgbClr val="002060"/>
                </a:solidFill>
              </a:rPr>
              <a:t>Les MOYENS HUMAINS de Déclic pour les 2 autres activités</a:t>
            </a:r>
            <a:endParaRPr/>
          </a:p>
          <a:p>
            <a:pPr marL="742950" lvl="1" indent="-2943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fr-FR" sz="1800" b="0" i="0" u="none" strike="noStrike">
                <a:solidFill>
                  <a:srgbClr val="000000"/>
                </a:solidFill>
              </a:rPr>
              <a:t>Accueil des publics au TiLT : 80h / an</a:t>
            </a:r>
            <a:endParaRPr/>
          </a:p>
          <a:p>
            <a:pPr marL="742950" lvl="1" indent="-2943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fr-FR" sz="1800" b="0" i="0" u="none" strike="noStrike">
                <a:solidFill>
                  <a:srgbClr val="000000"/>
                </a:solidFill>
              </a:rPr>
              <a:t>Assistante de production : 827h / an (0.45 ETP)</a:t>
            </a:r>
            <a:endParaRPr/>
          </a:p>
          <a:p>
            <a:pPr marL="742950" lvl="1" indent="-2943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fr-FR" sz="1800" b="0" i="0" u="none" strike="noStrike">
                <a:solidFill>
                  <a:srgbClr val="000000"/>
                </a:solidFill>
              </a:rPr>
              <a:t>Entretien des locaux : 624h / an (0.34 ETP)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0" i="0" u="none" strike="noStrike">
              <a:solidFill>
                <a:srgbClr val="000000"/>
              </a:solidFill>
            </a:endParaRPr>
          </a:p>
          <a:p>
            <a:pPr marL="228600" lvl="0" indent="-23768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900"/>
              <a:buFont typeface="Arial"/>
              <a:buChar char="•"/>
            </a:pPr>
            <a:r>
              <a:rPr lang="fr-FR" sz="1900" b="1" i="0" u="none" strike="noStrike">
                <a:solidFill>
                  <a:srgbClr val="002060"/>
                </a:solidFill>
              </a:rPr>
              <a:t>La mutualisation des FONCTIONS et des OUTILS</a:t>
            </a:r>
            <a:endParaRPr/>
          </a:p>
          <a:p>
            <a:pPr marL="742950" lvl="1" indent="-2943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fr-FR" sz="1800" b="0" i="0" u="none" strike="noStrike">
                <a:solidFill>
                  <a:srgbClr val="000000"/>
                </a:solidFill>
              </a:rPr>
              <a:t>Gestion des paies et comptabilité </a:t>
            </a:r>
            <a:endParaRPr sz="1800">
              <a:solidFill>
                <a:srgbClr val="000000"/>
              </a:solidFill>
            </a:endParaRPr>
          </a:p>
          <a:p>
            <a:pPr marL="742950" lvl="1" indent="-2943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fr-FR" sz="1800" b="0" i="0" u="none" strike="noStrike">
                <a:solidFill>
                  <a:srgbClr val="000000"/>
                </a:solidFill>
              </a:rPr>
              <a:t>Expert-comptable et Commissaire aux comptes</a:t>
            </a:r>
            <a:endParaRPr/>
          </a:p>
          <a:p>
            <a:pPr marL="742950" lvl="1" indent="-2943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fr-FR" sz="1800" b="0" i="0" u="none" strike="noStrike">
                <a:solidFill>
                  <a:srgbClr val="000000"/>
                </a:solidFill>
              </a:rPr>
              <a:t>Logiciel comptable et de paie</a:t>
            </a:r>
            <a:endParaRPr/>
          </a:p>
          <a:p>
            <a:pPr marL="742950" lvl="1" indent="-29432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fr-FR" sz="1800" b="0" i="0" u="none" strike="noStrike">
                <a:solidFill>
                  <a:srgbClr val="000000"/>
                </a:solidFill>
              </a:rPr>
              <a:t>Cotisations diverses</a:t>
            </a:r>
            <a:endParaRPr/>
          </a:p>
        </p:txBody>
      </p:sp>
      <p:pic>
        <p:nvPicPr>
          <p:cNvPr id="153" name="Google Shape;15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778" y="365125"/>
            <a:ext cx="1956986" cy="139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98563" y="166886"/>
            <a:ext cx="3370659" cy="2478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9325" y="3124350"/>
            <a:ext cx="5499901" cy="29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>
            <a:spLocks noGrp="1"/>
          </p:cNvSpPr>
          <p:nvPr>
            <p:ph type="title"/>
          </p:nvPr>
        </p:nvSpPr>
        <p:spPr>
          <a:xfrm>
            <a:off x="2544475" y="365125"/>
            <a:ext cx="53514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alibri"/>
              <a:buNone/>
            </a:pPr>
            <a:r>
              <a:rPr lang="fr-FR" sz="4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LES ORIENTATIONS 2025</a:t>
            </a:r>
            <a:endParaRPr/>
          </a:p>
        </p:txBody>
      </p:sp>
      <p:sp>
        <p:nvSpPr>
          <p:cNvPr id="161" name="Google Shape;161;p21"/>
          <p:cNvSpPr txBox="1">
            <a:spLocks noGrp="1"/>
          </p:cNvSpPr>
          <p:nvPr>
            <p:ph type="body" idx="1"/>
          </p:nvPr>
        </p:nvSpPr>
        <p:spPr>
          <a:xfrm>
            <a:off x="312425" y="1899138"/>
            <a:ext cx="7667700" cy="481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13144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900" i="0" u="none" strike="noStrike" dirty="0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1900" b="1" dirty="0">
                <a:solidFill>
                  <a:srgbClr val="002060"/>
                </a:solidFill>
              </a:rPr>
              <a:t>Stabiliser le modèle économique</a:t>
            </a:r>
            <a:r>
              <a:rPr lang="fr-FR" sz="1900" dirty="0">
                <a:solidFill>
                  <a:srgbClr val="002060"/>
                </a:solidFill>
              </a:rPr>
              <a:t> / enjeux de trésorerie (politique achat, mobiliser des co-financements, commercialiser davantage, outils de suivi : plan de trésorerie / clôture trimestriel)</a:t>
            </a:r>
            <a:endParaRPr sz="1900" dirty="0">
              <a:solidFill>
                <a:srgbClr val="00206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1900" dirty="0">
              <a:solidFill>
                <a:srgbClr val="00206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1900" b="1" dirty="0">
                <a:solidFill>
                  <a:srgbClr val="002060"/>
                </a:solidFill>
              </a:rPr>
              <a:t>Sortir de la SCIC</a:t>
            </a:r>
            <a:r>
              <a:rPr lang="fr-FR" sz="1900" dirty="0">
                <a:solidFill>
                  <a:srgbClr val="002060"/>
                </a:solidFill>
              </a:rPr>
              <a:t> (enjeux juridiques, admin, droit social)</a:t>
            </a:r>
            <a:endParaRPr sz="1900" dirty="0">
              <a:solidFill>
                <a:srgbClr val="00206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1900" b="1" dirty="0">
                <a:solidFill>
                  <a:srgbClr val="002060"/>
                </a:solidFill>
              </a:rPr>
              <a:t>Renforcer la gouvernance</a:t>
            </a:r>
            <a:r>
              <a:rPr lang="fr-FR" sz="1900" dirty="0">
                <a:solidFill>
                  <a:srgbClr val="002060"/>
                </a:solidFill>
              </a:rPr>
              <a:t> du futur CA</a:t>
            </a:r>
            <a:endParaRPr sz="1900" dirty="0">
              <a:solidFill>
                <a:srgbClr val="00206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1900" dirty="0">
                <a:solidFill>
                  <a:srgbClr val="002060"/>
                </a:solidFill>
              </a:rPr>
              <a:t>Mettre en place </a:t>
            </a:r>
            <a:r>
              <a:rPr lang="fr-FR" sz="1900" b="1" dirty="0">
                <a:solidFill>
                  <a:srgbClr val="002060"/>
                </a:solidFill>
              </a:rPr>
              <a:t>plan de développement des compétences</a:t>
            </a:r>
            <a:r>
              <a:rPr lang="fr-FR" sz="1900" dirty="0">
                <a:solidFill>
                  <a:srgbClr val="002060"/>
                </a:solidFill>
              </a:rPr>
              <a:t> / immersion</a:t>
            </a:r>
            <a:endParaRPr sz="1900" dirty="0">
              <a:solidFill>
                <a:srgbClr val="00206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1900" dirty="0">
                <a:solidFill>
                  <a:srgbClr val="002060"/>
                </a:solidFill>
              </a:rPr>
              <a:t>Négocier l’</a:t>
            </a:r>
            <a:r>
              <a:rPr lang="fr-FR" sz="1900" b="1" dirty="0">
                <a:solidFill>
                  <a:srgbClr val="002060"/>
                </a:solidFill>
              </a:rPr>
              <a:t>accord d’entreprise</a:t>
            </a:r>
            <a:endParaRPr sz="1900" dirty="0">
              <a:solidFill>
                <a:srgbClr val="00206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1900" dirty="0">
                <a:solidFill>
                  <a:srgbClr val="002060"/>
                </a:solidFill>
              </a:rPr>
              <a:t>Ecrire le </a:t>
            </a:r>
            <a:r>
              <a:rPr lang="fr-FR" sz="1900" b="1" dirty="0">
                <a:solidFill>
                  <a:srgbClr val="002060"/>
                </a:solidFill>
              </a:rPr>
              <a:t>DUERP</a:t>
            </a:r>
            <a:endParaRPr sz="1900" dirty="0">
              <a:solidFill>
                <a:srgbClr val="00206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1900" dirty="0">
                <a:solidFill>
                  <a:srgbClr val="002060"/>
                </a:solidFill>
              </a:rPr>
              <a:t>Accélérer les reconnaissance BOETH</a:t>
            </a:r>
            <a:endParaRPr sz="1900" dirty="0"/>
          </a:p>
        </p:txBody>
      </p:sp>
      <p:pic>
        <p:nvPicPr>
          <p:cNvPr id="162" name="Google Shape;16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778" y="365125"/>
            <a:ext cx="1956986" cy="139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20349" y="3114250"/>
            <a:ext cx="2702850" cy="360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0250" y="120924"/>
            <a:ext cx="4211749" cy="28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581</Words>
  <Application>Microsoft Office PowerPoint</Application>
  <PresentationFormat>Grand écran</PresentationFormat>
  <Paragraphs>115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Thème Office</vt:lpstr>
      <vt:lpstr>RAPPORT D’ACTIVITES ANNEE 2024</vt:lpstr>
      <vt:lpstr>LE COLLECTIF DE TRAVAIL  </vt:lpstr>
      <vt:lpstr>     ORGANIGRAMME </vt:lpstr>
      <vt:lpstr>L’EMPLOI INCLUSIF</vt:lpstr>
      <vt:lpstr>LES ACTIVITÉS UTILES AU TERRITOIRE </vt:lpstr>
      <vt:lpstr>Bilan 2024 et prévisionnel budgétaire 2025 </vt:lpstr>
      <vt:lpstr>ANALYSE ET STRATÉGIE </vt:lpstr>
      <vt:lpstr>LES COOPERATIONS  au sein de la SCIC</vt:lpstr>
      <vt:lpstr>LES ORIENTATIONS 2025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Floriane PEVERELLI</dc:creator>
  <cp:lastModifiedBy>Floriane PEVERELLI</cp:lastModifiedBy>
  <cp:revision>2</cp:revision>
  <dcterms:modified xsi:type="dcterms:W3CDTF">2026-01-09T13:37:09Z</dcterms:modified>
</cp:coreProperties>
</file>